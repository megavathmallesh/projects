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7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27427"/>
            <a:ext cx="71027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Churn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churn patterns through data science and interactive visualization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Workflow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41074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41074" y="2634734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preprocessing and transformation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41074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41074" y="3995618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analysis and insights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1074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Model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41074" y="5356503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RandomForest prediction training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41074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641074" y="6717387"/>
            <a:ext cx="61955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visualization dashboard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39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31413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7,043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13327" y="37632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 Customers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684514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6613327" y="5716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80190" y="629745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Demographics, services, billing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2589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317087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Demographics: Gender, SeniorCitizen, Tenure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397597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Services: Internet, Security, Streaming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4781074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Billing: MonthlyCharges, Contract type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58617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Churn (Yes/No)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42542"/>
            <a:ext cx="788848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 Challenges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91482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80">
            <a:solidFill>
              <a:srgbClr val="4967E9"/>
            </a:solidFill>
            <a:prstDash val="solid"/>
          </a:ln>
          <a:effectLst>
            <a:outerShdw sx="100000" sy="100000" kx="0" ky="0" algn="bl" rotWithShape="0" blurRad="0" dist="20320" dir="2700000">
              <a:srgbClr val="4967e9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63310" y="5191482"/>
            <a:ext cx="121920" cy="1730812"/>
          </a:xfrm>
          <a:prstGeom prst="roundRect">
            <a:avLst>
              <a:gd name="adj" fmla="val 279070"/>
            </a:avLst>
          </a:prstGeom>
          <a:solidFill>
            <a:srgbClr val="4967E9"/>
          </a:solidFill>
          <a:ln/>
        </p:spPr>
      </p:sp>
      <p:sp>
        <p:nvSpPr>
          <p:cNvPr id="6" name="Text 3"/>
          <p:cNvSpPr/>
          <p:nvPr/>
        </p:nvSpPr>
        <p:spPr>
          <a:xfrm>
            <a:off x="1142524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42524" y="59391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TotalCharges contained blank entries requiring imputation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5191482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80">
            <a:solidFill>
              <a:srgbClr val="4967E9"/>
            </a:solidFill>
            <a:prstDash val="solid"/>
          </a:ln>
          <a:effectLst>
            <a:outerShdw sx="100000" sy="100000" kx="0" ky="0" algn="bl" rotWithShape="0" blurRad="0" dist="20320" dir="2700000">
              <a:srgbClr val="4967e9">
                <a:alpha val="10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86482" y="5191482"/>
            <a:ext cx="121920" cy="1730812"/>
          </a:xfrm>
          <a:prstGeom prst="roundRect">
            <a:avLst>
              <a:gd name="adj" fmla="val 279070"/>
            </a:avLst>
          </a:prstGeom>
          <a:solidFill>
            <a:srgbClr val="4967E9"/>
          </a:solidFill>
          <a:ln/>
        </p:spPr>
      </p:sp>
      <p:sp>
        <p:nvSpPr>
          <p:cNvPr id="10" name="Text 7"/>
          <p:cNvSpPr/>
          <p:nvPr/>
        </p:nvSpPr>
        <p:spPr>
          <a:xfrm>
            <a:off x="556569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Conversion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565696" y="59391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TotalCharges stored as string, converted to float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5191482"/>
            <a:ext cx="4196358" cy="1730812"/>
          </a:xfrm>
          <a:prstGeom prst="roundRect">
            <a:avLst>
              <a:gd name="adj" fmla="val 8453"/>
            </a:avLst>
          </a:prstGeom>
          <a:solidFill>
            <a:srgbClr val="F9F9FF"/>
          </a:solidFill>
          <a:ln w="30480">
            <a:solidFill>
              <a:srgbClr val="4967E9"/>
            </a:solidFill>
            <a:prstDash val="solid"/>
          </a:ln>
          <a:effectLst>
            <a:outerShdw sx="100000" sy="100000" kx="0" ky="0" algn="bl" rotWithShape="0" blurRad="0" dist="20320" dir="2700000">
              <a:srgbClr val="4967e9">
                <a:alpha val="10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9609653" y="5191482"/>
            <a:ext cx="121920" cy="1730812"/>
          </a:xfrm>
          <a:prstGeom prst="roundRect">
            <a:avLst>
              <a:gd name="adj" fmla="val 279070"/>
            </a:avLst>
          </a:prstGeom>
          <a:solidFill>
            <a:srgbClr val="4967E9"/>
          </a:solidFill>
          <a:ln/>
        </p:spPr>
      </p:sp>
      <p:sp>
        <p:nvSpPr>
          <p:cNvPr id="14" name="Text 11"/>
          <p:cNvSpPr/>
          <p:nvPr/>
        </p:nvSpPr>
        <p:spPr>
          <a:xfrm>
            <a:off x="998886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Encoding Issues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988868" y="5939195"/>
            <a:ext cx="35903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categorical encodings standardized via encoders.pkl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6618" y="622340"/>
            <a:ext cx="6158627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Critical Churn Insights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276618" y="1666518"/>
            <a:ext cx="7563564" cy="1315879"/>
          </a:xfrm>
          <a:prstGeom prst="roundRect">
            <a:avLst>
              <a:gd name="adj" fmla="val 25737"/>
            </a:avLst>
          </a:prstGeom>
          <a:solidFill>
            <a:srgbClr val="E7E7F3"/>
          </a:solidFill>
          <a:ln w="7620">
            <a:solidFill>
              <a:srgbClr val="CDCDD9"/>
            </a:solidFill>
            <a:prstDash val="solid"/>
          </a:ln>
          <a:effectLst>
            <a:outerShdw sx="100000" sy="100000" kx="0" ky="0" algn="bl" rotWithShape="0" blurRad="0" dist="20320" dir="2700000">
              <a:srgbClr val="cdcdd9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509980" y="1899880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Contract Type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9980" y="2387918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Month-to-month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show highest churn rate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76618" y="3208139"/>
            <a:ext cx="7563564" cy="1315879"/>
          </a:xfrm>
          <a:prstGeom prst="roundRect">
            <a:avLst>
              <a:gd name="adj" fmla="val 25737"/>
            </a:avLst>
          </a:prstGeom>
          <a:solidFill>
            <a:srgbClr val="E7E7F3"/>
          </a:solidFill>
          <a:ln w="7620">
            <a:solidFill>
              <a:srgbClr val="CDCDD9"/>
            </a:solidFill>
            <a:prstDash val="solid"/>
          </a:ln>
          <a:effectLst>
            <a:outerShdw sx="100000" sy="100000" kx="0" ky="0" algn="bl" rotWithShape="0" blurRad="0" dist="20320" dir="2700000">
              <a:srgbClr val="cdcdd9">
                <a:alpha val="10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09980" y="3441502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 Method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09980" y="3929539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 check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users churn most frequently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6618" y="4749760"/>
            <a:ext cx="7563564" cy="1315879"/>
          </a:xfrm>
          <a:prstGeom prst="roundRect">
            <a:avLst>
              <a:gd name="adj" fmla="val 25737"/>
            </a:avLst>
          </a:prstGeom>
          <a:solidFill>
            <a:srgbClr val="E7E7F3"/>
          </a:solidFill>
          <a:ln w="7620">
            <a:solidFill>
              <a:srgbClr val="CDCDD9"/>
            </a:solidFill>
            <a:prstDash val="solid"/>
          </a:ln>
          <a:effectLst>
            <a:outerShdw sx="100000" sy="100000" kx="0" ky="0" algn="bl" rotWithShape="0" blurRad="0" dist="20320" dir="2700000">
              <a:srgbClr val="cdcdd9">
                <a:alpha val="10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509980" y="4983123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Tenure Risk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9980" y="5471160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 months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customers churn significantly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6618" y="6291382"/>
            <a:ext cx="7563564" cy="1315879"/>
          </a:xfrm>
          <a:prstGeom prst="roundRect">
            <a:avLst>
              <a:gd name="adj" fmla="val 25737"/>
            </a:avLst>
          </a:prstGeom>
          <a:solidFill>
            <a:srgbClr val="E7E7F3"/>
          </a:solidFill>
          <a:ln w="7620">
            <a:solidFill>
              <a:srgbClr val="CDCDD9"/>
            </a:solidFill>
            <a:prstDash val="solid"/>
          </a:ln>
          <a:effectLst>
            <a:outerShdw sx="100000" sy="100000" kx="0" ky="0" algn="bl" rotWithShape="0" blurRad="0" dist="20320" dir="2700000">
              <a:srgbClr val="cdcdd9">
                <a:alpha val="10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09980" y="652474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Pricing Impact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09980" y="7012781"/>
            <a:ext cx="7096839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MonthlyCharges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correlate with churn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08202"/>
            <a:ext cx="68275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 Model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839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Architecture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65100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RandomForestClassifier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00729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Split: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70-30 train-test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449497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Label encoding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891695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.pkl deployment files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9828" y="5125641"/>
            <a:ext cx="366033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77.7%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6652379" y="6157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Score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83654" y="5125641"/>
            <a:ext cx="3660458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58%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10596205" y="61574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Churn Recall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183654" y="6738580"/>
            <a:ext cx="36604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at-risk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970" y="410170"/>
            <a:ext cx="5140285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BI Dashboard Metrics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806773" y="2144078"/>
            <a:ext cx="183463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26.5%</a:t>
            </a:r>
            <a:endParaRPr lang="en-US" sz="2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439" y="1211818"/>
            <a:ext cx="2237423" cy="22374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91891" y="3635573"/>
            <a:ext cx="1864519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Churn Rate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1970" y="3957995"/>
            <a:ext cx="4404479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1,869 of 7,043 customers churned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397704" y="2144078"/>
            <a:ext cx="183463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42.7%</a:t>
            </a:r>
            <a:endParaRPr lang="en-US" sz="2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370" y="1211818"/>
            <a:ext cx="2237423" cy="223742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2822" y="3635573"/>
            <a:ext cx="1864519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Month-to-Month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112901" y="3957995"/>
            <a:ext cx="4404479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churn by contract type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10988754" y="2144078"/>
            <a:ext cx="1834634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50%</a:t>
            </a:r>
            <a:endParaRPr lang="en-US" sz="2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420" y="1211818"/>
            <a:ext cx="2237423" cy="22374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3872" y="3635573"/>
            <a:ext cx="1864519" cy="233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Tenure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9703832" y="3957995"/>
            <a:ext cx="4404598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 months churn rate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" y="4364355"/>
            <a:ext cx="7505700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13974"/>
            <a:ext cx="69776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Impact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31413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$456K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613327" y="37632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Monthly Revenue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4684514"/>
            <a:ext cx="350150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$2.86M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6613327" y="57163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Lost Revenue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80190" y="629745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churned customers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2589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Adoption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317087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churn services: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373784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TechSupport: 83.4% churn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454294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OnlineSecurity: 84.2% churn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34804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OnlineBackup: 72% churn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8879"/>
            <a:ext cx="78269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Recommendations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7128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26331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200638"/>
            <a:ext cx="41812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Promote Long-Term Contracts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69105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Incentivize migration from month-to-month to annual plans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67128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26331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200638"/>
            <a:ext cx="403776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Payment Experience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69105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smoother alternatives to electronic check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67128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026331"/>
            <a:ext cx="4196358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200638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Early-Tenure Customers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4045387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onboarding and welcome benefits for &lt;6 months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23071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697379"/>
            <a:ext cx="39426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Strengthen Add-on Services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18779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OnlineSecurity, TechSupport in retention offers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516802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523071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697379"/>
            <a:ext cx="45077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Retain High-Revenue Customers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18779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strategies on high MonthlyCharges segments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2025-11-25T08:13:52Z</dcterms:created>
  <dcterms:modified xsi:type="dcterms:W3CDTF">2025-11-25T08:13:52Z</dcterms:modified>
</cp:coreProperties>
</file>